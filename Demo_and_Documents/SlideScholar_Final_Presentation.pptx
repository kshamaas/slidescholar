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6C537E7-E8ED-43ED-ADBD-A32F597DCD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1" name="Google Shape;241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0" name="Google Shape;340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48640" y="731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188720" y="6400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SlideScholar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88720" y="1417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A9DFBF"/>
                </a:solidFill>
                <a:latin typeface="Calibri"/>
                <a:ea typeface="Calibri"/>
                <a:cs typeface="Calibri"/>
                <a:sym typeface="Calibri"/>
              </a:rPr>
              <a:t>A Multimodal RAG-Based AI Study Assistant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A9DFBF"/>
                </a:solidFill>
                <a:latin typeface="Calibri"/>
                <a:ea typeface="Calibri"/>
                <a:cs typeface="Calibri"/>
                <a:sym typeface="Calibri"/>
              </a:rPr>
              <a:t>for Lecture Slides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1188720" y="2286000"/>
            <a:ext cx="3657600" cy="0"/>
          </a:xfrm>
          <a:prstGeom prst="straightConnector1">
            <a:avLst/>
          </a:prstGeom>
          <a:noFill/>
          <a:ln w="254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3"/>
          <p:cNvSpPr/>
          <p:nvPr/>
        </p:nvSpPr>
        <p:spPr>
          <a:xfrm>
            <a:off x="1188720" y="25603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STATGR5293 · Generative AI Using LLMs · Spring 2026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Columbia University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Chenglu Xing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(cx2353)</a:t>
            </a:r>
            <a:r>
              <a:rPr lang="en-US" sz="140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Kshamaa Suresh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(ks4423)</a:t>
            </a:r>
            <a:r>
              <a:rPr lang="en-US" sz="140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Simryn Parikh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(sap2254)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88720" y="3794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Instructor: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Chen Wang (cw3687)</a:t>
            </a: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TA: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Christopher Ng (cn2673)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863840" y="640080"/>
            <a:ext cx="50292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" name="Google Shape;25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955280" y="731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7589520" y="11430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863840" y="1463040"/>
            <a:ext cx="50292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" name="Google Shape;28;p3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955280" y="1554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7589520" y="196596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863840" y="2286000"/>
            <a:ext cx="50292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" name="Google Shape;31;p3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955280" y="2377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7589520" y="278892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7863840" y="3108960"/>
            <a:ext cx="50292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4" name="Google Shape;34;p3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95528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>
            <a:off x="7589520" y="361188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863840" y="3931920"/>
            <a:ext cx="50292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7" name="Google Shape;37;p3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955280" y="40233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7589520" y="443484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current AI tools fail graduate students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9" name="Google Shape;49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54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 Content Lost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0080" y="23317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PDF parsers extract raw text only — all diagrams, equations, and charts are silently discarded. STEM slides are overwhelmingly visual.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91840" y="1371600"/>
            <a:ext cx="2651760" cy="2560320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474720" y="1554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347472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Hallucination Risk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474720" y="23317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General-purpose LLMs are not grounded in the student's actual slides. Generated content is unverifiable and often contradicts source material.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126480" y="1371600"/>
            <a:ext cx="2651760" cy="256032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7" name="Google Shape;57;p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09360" y="1554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630936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Cross-Lecture Retrieval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309360" y="23317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No free tool lets a student query across multiple lecture weeks. Concepts from week 2 can't connect to material from week 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4"/>
          <p:cNvSpPr/>
          <p:nvPr/>
        </p:nvSpPr>
        <p:spPr>
          <a:xfrm>
            <a:off x="731520" y="42519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3–5 hours/week </a:t>
            </a:r>
            <a:r>
              <a:rPr lang="en-US" sz="13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spent by graduate students manually converting slides into study materials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Research Question &amp; Scope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70;p5"/>
          <p:cNvSpPr/>
          <p:nvPr/>
        </p:nvSpPr>
        <p:spPr>
          <a:xfrm>
            <a:off x="731520" y="105156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B42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B429"/>
                </a:solidFill>
                <a:latin typeface="Calibri"/>
                <a:ea typeface="Calibri"/>
                <a:cs typeface="Calibri"/>
                <a:sym typeface="Calibri"/>
              </a:rPr>
              <a:t>RQ: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a multimodal RAG system grounded in a student's own lecture slides produce study materials that are more faithful, grounded, and useful than a general-purpose LLM?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2148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 Scope (v1)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26060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777240" y="25786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PDF + PPTX ingestion with visual understanding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777240" y="29260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Multimodal chunking (text + LLaVA-7B vision)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3300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777240" y="32735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generation modes: Study Guide, Flashcards, Exam, ELI5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36484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777240" y="362102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Cross-lecture retrieval via FAISS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39959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777240" y="39684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Adaptive gap detection loop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43434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777240" y="43159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RAGAS evaluation framework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846320" y="2148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Out of Scope (v1)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26060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5166360" y="25786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Real-time slide sync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5166360" y="29260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User accounts / authentication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3300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5166360" y="32735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Non-English slides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36484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5166360" y="362102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Fine-tuning the LLM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5"/>
          <p:cNvSpPr/>
          <p:nvPr/>
        </p:nvSpPr>
        <p:spPr>
          <a:xfrm>
            <a:off x="731520" y="42976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Deliverables: </a:t>
            </a:r>
            <a:r>
              <a:rPr lang="en-US" sz="11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Working system  ·  Live HuggingFace demo  ·  RAGAS evaluation  ·  Human preference study  ·  Ablation study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Five-stage pipeline: Ingest → Understand → Index → Retrieve → Generate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20040" y="1280160"/>
            <a:ext cx="1554480" cy="30175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6"/>
          <p:cNvSpPr/>
          <p:nvPr/>
        </p:nvSpPr>
        <p:spPr>
          <a:xfrm>
            <a:off x="320040" y="1280160"/>
            <a:ext cx="15544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5" name="Google Shape;105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6868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320040" y="20116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11480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pdfplumber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python-pptx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pdf2image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11480" y="30632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Extract text +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render slide PNGs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92808" y="24688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2057400" y="1280160"/>
            <a:ext cx="1554480" cy="30175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/>
          <p:cNvSpPr/>
          <p:nvPr/>
        </p:nvSpPr>
        <p:spPr>
          <a:xfrm>
            <a:off x="2057400" y="1280160"/>
            <a:ext cx="15544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2" name="Google Shape;112;p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60604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2057400" y="20116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148840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LLaVA-7B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4-bit quant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148840" y="30632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Vision descriptions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of every slide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630168" y="24688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3794760" y="1280160"/>
            <a:ext cx="1554480" cy="30175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6"/>
          <p:cNvSpPr/>
          <p:nvPr/>
        </p:nvSpPr>
        <p:spPr>
          <a:xfrm>
            <a:off x="3794760" y="1280160"/>
            <a:ext cx="15544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9" name="Google Shape;119;p6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4340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3794760" y="20116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886200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e5-large-v2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FAISS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886200" y="30632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1024-dim embeddings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367528" y="24688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5532120" y="1280160"/>
            <a:ext cx="1554480" cy="30175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6"/>
          <p:cNvSpPr/>
          <p:nvPr/>
        </p:nvSpPr>
        <p:spPr>
          <a:xfrm>
            <a:off x="5532120" y="1280160"/>
            <a:ext cx="15544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6" name="Google Shape;126;p6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08076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5532120" y="20116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623560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Top-k search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metadata filter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623560" y="30632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Semantic retrieval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with slide context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104888" y="24688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7269480" y="1280160"/>
            <a:ext cx="1554480" cy="30175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6"/>
          <p:cNvSpPr/>
          <p:nvPr/>
        </p:nvSpPr>
        <p:spPr>
          <a:xfrm>
            <a:off x="7269480" y="1280160"/>
            <a:ext cx="15544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3" name="Google Shape;133;p6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81812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269480" y="20116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360920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Mistral-7B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4-bit NF4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360920" y="30632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Grounded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4 modes + gap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6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B42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B429"/>
                </a:solidFill>
                <a:latin typeface="Calibri"/>
                <a:ea typeface="Calibri"/>
                <a:cs typeface="Calibri"/>
                <a:sym typeface="Calibri"/>
              </a:rPr>
              <a:t>Total cost: $0 </a:t>
            </a: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— Colab Pro A100 + HuggingFace Spaces free T4 — all models are open-weight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Contribution 1: Multimodal Ingestion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LLaVA-7B processes every slide as an image — capturing what text extraction misses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E8ECF0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solidFill>
            <a:srgbClr val="56657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Text-Only (Baseline)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" y="192024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pdfplumber / python-pptx</a:t>
            </a:r>
            <a:br>
              <a:rPr lang="en-US" sz="110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0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Extracts: raw text strings</a:t>
            </a:r>
            <a:b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Loses: diagrams, equations, charts,</a:t>
            </a:r>
            <a:br>
              <a:rPr lang="en-US" sz="11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figure labels, spatial layout</a:t>
            </a:r>
            <a:br>
              <a:rPr lang="en-US" sz="11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→ STEM slides lose 40-60% of semantic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content with text-only extraction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E8ECF0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Multimodal (SlideScholar)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937760" y="192024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LLaVA-7B (4-bit quantized)</a:t>
            </a:r>
            <a:br>
              <a:rPr lang="en-US" sz="110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0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Extracts: text + visual descriptions</a:t>
            </a:r>
            <a:b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 diagrams, equations, charts</a:t>
            </a:r>
            <a:b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Captures: spatial layout, figure</a:t>
            </a:r>
            <a:br>
              <a:rPr lang="en-US" sz="110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captions, mathematical notation</a:t>
            </a:r>
            <a:br>
              <a:rPr lang="en-US" sz="110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 Merged chunk = raw text + vision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 description per slide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7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Chunk = </a:t>
            </a: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{ text: raw + vision, metadata: { lecture, slide, week, chunk_id } }</a:t>
            </a: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— one indivisible semantic unit per slide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Contribution 2: Grounded RAG Generation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output is grounded in the student's own slides — not generic AI knowledge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1280160"/>
            <a:ext cx="2697480" cy="100584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4" name="Google Shape;164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9436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960120" y="1325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60120" y="1600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e5-large-v2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1024-dim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337560" y="1280160"/>
            <a:ext cx="2697480" cy="100584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8" name="Google Shape;168;p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47472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3840480" y="1325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840480" y="1600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FAISS IndexFlatIP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217920" y="1280160"/>
            <a:ext cx="2697480" cy="100584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2" name="Google Shape;172;p8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6720840" y="1325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720840" y="1600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Mistral-7B-Instruct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4-bit NF4 quantization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 Output Modes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274320" y="2971800"/>
            <a:ext cx="160020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7" name="Google Shape;177;p8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2296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274320" y="35204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Guide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65760" y="384048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Key concepts, definitions, formulas with [Source N] citations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011680" y="2971800"/>
            <a:ext cx="160020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1" name="Google Shape;181;p8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6032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2011680" y="35204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Flashcards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103120" y="384048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10 Q&amp;A pairs as JSON, parsed and rendered with source tracing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749040" y="2971800"/>
            <a:ext cx="160020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5" name="Google Shape;185;p8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29768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3749040" y="35204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Exam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840480" y="384048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 MCQs + 3 short-answer, graded difficulty, answer key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486400" y="2971800"/>
            <a:ext cx="160020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9" name="Google Shape;189;p8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03504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5486400" y="35204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577840" y="384048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Plain-language explanation with real-world analogies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223760" y="2971800"/>
            <a:ext cx="160020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3" name="Google Shape;193;p8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77240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7223760" y="35204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315200" y="384048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Re-explanation of wrong answers using source slides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Contribution 3: Adaptive Gap Detection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Evidence-based retrieval practice — wrong answers trigger targeted re-teaching from source slides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65760" y="1371600"/>
            <a:ext cx="1965960" cy="21031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9"/>
          <p:cNvSpPr/>
          <p:nvPr/>
        </p:nvSpPr>
        <p:spPr>
          <a:xfrm>
            <a:off x="1051560" y="1508760"/>
            <a:ext cx="502920" cy="50292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9"/>
          <p:cNvSpPr/>
          <p:nvPr/>
        </p:nvSpPr>
        <p:spPr>
          <a:xfrm>
            <a:off x="1051560" y="1508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57200" y="21488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Student takes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practice exam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7200" y="269748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MCQ + short answer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generated from slides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77440" y="2194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2606040" y="1371600"/>
            <a:ext cx="1965960" cy="21031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9"/>
          <p:cNvSpPr/>
          <p:nvPr/>
        </p:nvSpPr>
        <p:spPr>
          <a:xfrm>
            <a:off x="3291840" y="15087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9"/>
          <p:cNvSpPr/>
          <p:nvPr/>
        </p:nvSpPr>
        <p:spPr>
          <a:xfrm>
            <a:off x="3291840" y="1508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697480" y="21488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Answers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compared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697480" y="269748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Student answer vs.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correct answer key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17720" y="2194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4846320" y="1371600"/>
            <a:ext cx="1965960" cy="21031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9"/>
          <p:cNvSpPr/>
          <p:nvPr/>
        </p:nvSpPr>
        <p:spPr>
          <a:xfrm>
            <a:off x="5532120" y="1508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9"/>
          <p:cNvSpPr/>
          <p:nvPr/>
        </p:nvSpPr>
        <p:spPr>
          <a:xfrm>
            <a:off x="5532120" y="1508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937760" y="21488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Wrong →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Re-retrieve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937760" y="269748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FAISS searches for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relevant source slides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58000" y="2194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/>
          <p:nvPr/>
        </p:nvSpPr>
        <p:spPr>
          <a:xfrm>
            <a:off x="7086600" y="1371600"/>
            <a:ext cx="1965960" cy="21031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9"/>
          <p:cNvSpPr/>
          <p:nvPr/>
        </p:nvSpPr>
        <p:spPr>
          <a:xfrm>
            <a:off x="7772400" y="1508760"/>
            <a:ext cx="502920" cy="50292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4" name="Google Shape;224;p9"/>
          <p:cNvSpPr/>
          <p:nvPr/>
        </p:nvSpPr>
        <p:spPr>
          <a:xfrm>
            <a:off x="7772400" y="1508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178040" y="21488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Targeted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re-explanation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7178040" y="269748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Why correct, why wrong,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memory aid generated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9"/>
          <p:cNvSpPr/>
          <p:nvPr/>
        </p:nvSpPr>
        <p:spPr>
          <a:xfrm>
            <a:off x="731520" y="3794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B42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B429"/>
                </a:solidFill>
                <a:latin typeface="Calibri"/>
                <a:ea typeface="Calibri"/>
                <a:cs typeface="Calibri"/>
                <a:sym typeface="Calibri"/>
              </a:rPr>
              <a:t>Re-explanation output structure: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31520" y="406908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## Why the correct answer is right 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Explanation with [Source N] citation</a:t>
            </a:r>
            <a:b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## Why the student answer was wrong 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Specific, constructive feedback</a:t>
            </a:r>
            <a:b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## Key concept to remember  ·  ## Memory aid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 Stack &amp; Implementation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10"/>
          <p:cNvGraphicFramePr/>
          <p:nvPr/>
        </p:nvGraphicFramePr>
        <p:xfrm>
          <a:off x="457200" y="1005840"/>
          <a:ext cx="7589525" cy="3000000"/>
        </p:xfrm>
        <a:graphic>
          <a:graphicData uri="http://schemas.openxmlformats.org/drawingml/2006/table">
            <a:tbl>
              <a:tblPr>
                <a:noFill/>
                <a:tableStyleId>{D6C537E7-E8ED-43ED-ADBD-A32F597DCDB6}</a:tableStyleId>
              </a:tblPr>
              <a:tblGrid>
                <a:gridCol w="1371600"/>
                <a:gridCol w="2560325"/>
                <a:gridCol w="2743200"/>
                <a:gridCol w="914400"/>
              </a:tblGrid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 Parsing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pdfplumber, python-pptx, pdf2image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 extraction + slide PNG rendering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Vision Model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LLaVA-7B (4-bit, bitsandbytes)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 understanding of diagrams/charts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intfloat/e5-large-v2 (1024-dim)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Dense embeddings, GPU-accelerated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 Store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FAISS IndexFlatIP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Cosine similarity retrieval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Mistral-7B-Instruct-v0.2 (4-bit NF4)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Grounded study material generation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RAGAS + custom metrics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Faithfulness, relevance, context recall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Gradio (6 tabs)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interface with file upload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HuggingFace Spaces (CPU basic)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demo with HF Inference API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 Environment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Colab (A100 GPU)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training, batch processing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Colab Pro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 Control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(branch protection)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personal branches + dev + main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Quantitative metrics from RAGAS evaluation on 50 grounded QA pairs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20040" y="1280160"/>
            <a:ext cx="1965960" cy="16459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11"/>
          <p:cNvSpPr/>
          <p:nvPr/>
        </p:nvSpPr>
        <p:spPr>
          <a:xfrm>
            <a:off x="320040" y="13716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20040" y="20116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Hit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20040" y="2286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Target: ≥ 0.80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43000" y="2606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2468880" y="1280160"/>
            <a:ext cx="1965960" cy="16459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11"/>
          <p:cNvSpPr/>
          <p:nvPr/>
        </p:nvSpPr>
        <p:spPr>
          <a:xfrm>
            <a:off x="2468880" y="13716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2468880" y="20116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Retrieval F1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2468880" y="2286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Target: ≥ 0.70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91840" y="2606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4617720" y="1280160"/>
            <a:ext cx="1965960" cy="16459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11"/>
          <p:cNvSpPr/>
          <p:nvPr/>
        </p:nvSpPr>
        <p:spPr>
          <a:xfrm>
            <a:off x="4617720" y="13716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617720" y="20116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Answer Relevance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617720" y="2286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Target: ≥ 0.75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440680" y="2606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6766560" y="1280160"/>
            <a:ext cx="1965960" cy="1645920"/>
          </a:xfrm>
          <a:prstGeom prst="rect">
            <a:avLst/>
          </a:prstGeom>
          <a:solidFill>
            <a:srgbClr val="F4F6F7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11"/>
          <p:cNvSpPr/>
          <p:nvPr/>
        </p:nvSpPr>
        <p:spPr>
          <a:xfrm>
            <a:off x="6766560" y="13716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766560" y="20116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766560" y="2286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Target: ≥ 0.80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589520" y="2606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11"/>
          <p:cNvSpPr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Faithfulness gap analysis: </a:t>
            </a:r>
            <a:r>
              <a:rPr lang="en-US" sz="100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When retrieved context is sparse, Mistral supplements with parametric knowledge. This is expected RAG behavior. Expanding the slide corpus directly improves faithfulness — the gap closes as more lectures are added, not through code changes.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57200" y="4023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SlideScholar vs. ChatGPT Baseline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14800" y="3931920"/>
            <a:ext cx="4572000" cy="105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Innovation: How We Compare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12"/>
          <p:cNvGraphicFramePr/>
          <p:nvPr/>
        </p:nvGraphicFramePr>
        <p:xfrm>
          <a:off x="457200" y="1097280"/>
          <a:ext cx="8229600" cy="3000000"/>
        </p:xfrm>
        <a:graphic>
          <a:graphicData uri="http://schemas.openxmlformats.org/drawingml/2006/table">
            <a:tbl>
              <a:tblPr>
                <a:noFill/>
                <a:tableStyleId>{D6C537E7-E8ED-43ED-ADBD-A32F597DCDB6}</a:tableStyleId>
              </a:tblPr>
              <a:tblGrid>
                <a:gridCol w="3657600"/>
                <a:gridCol w="1371600"/>
                <a:gridCol w="1371600"/>
                <a:gridCol w="1828800"/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ChatPDF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ChatGPT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SlideScholar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 understanding (diagrams/equations)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Grounded in student's slides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Cross-lecture retrieval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gap detection loop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Structured output (cards, exam, ELI5)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/ open-source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0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citations with slide numbers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1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Alignment with Current Research Trends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457200" y="4343400"/>
            <a:ext cx="269748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0" name="Google Shape;280;p12"/>
          <p:cNvSpPr/>
          <p:nvPr/>
        </p:nvSpPr>
        <p:spPr>
          <a:xfrm>
            <a:off x="548640" y="436168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Multimodal RAG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48640" y="45720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Vision-augmented retrieval (Microsoft Research, Google DeepMind 2024)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3337560" y="4343400"/>
            <a:ext cx="269748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3" name="Google Shape;283;p12"/>
          <p:cNvSpPr/>
          <p:nvPr/>
        </p:nvSpPr>
        <p:spPr>
          <a:xfrm>
            <a:off x="3429000" y="436168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Grounded Generation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3429000" y="45720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Hallucination reduction via faithful retrieval — central open problem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217920" y="4343400"/>
            <a:ext cx="2697480" cy="594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12"/>
          <p:cNvSpPr/>
          <p:nvPr/>
        </p:nvSpPr>
        <p:spPr>
          <a:xfrm>
            <a:off x="6309360" y="436168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EdTech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309360" y="45720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LLMs for personalized learning (Khanmigo, Coursera AI, Duolingo Max)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4" name="Google Shape;294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Team &amp; Methodology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320040" y="1005840"/>
            <a:ext cx="2743200" cy="2743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13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7" name="Google Shape;297;p13"/>
          <p:cNvSpPr/>
          <p:nvPr/>
        </p:nvSpPr>
        <p:spPr>
          <a:xfrm>
            <a:off x="288040" y="106531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457200" y="1600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RAG &amp; Generation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19202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685800" y="189280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e5-large-v2 embeddings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22402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3"/>
          <p:cNvSpPr/>
          <p:nvPr/>
        </p:nvSpPr>
        <p:spPr>
          <a:xfrm>
            <a:off x="685800" y="221284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FAISS index build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25603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3"/>
          <p:cNvSpPr/>
          <p:nvPr/>
        </p:nvSpPr>
        <p:spPr>
          <a:xfrm>
            <a:off x="685800" y="25328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Mistral-7B generation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" y="28803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3"/>
          <p:cNvSpPr/>
          <p:nvPr/>
        </p:nvSpPr>
        <p:spPr>
          <a:xfrm>
            <a:off x="685800" y="28529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output mode prompts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246120" y="1005840"/>
            <a:ext cx="2743200" cy="2743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8" name="Google Shape;308;p13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9" name="Google Shape;309;p13"/>
          <p:cNvSpPr/>
          <p:nvPr/>
        </p:nvSpPr>
        <p:spPr>
          <a:xfrm>
            <a:off x="3383280" y="1600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Ingestion, UI &amp; Eval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383280" y="19202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3"/>
          <p:cNvSpPr/>
          <p:nvPr/>
        </p:nvSpPr>
        <p:spPr>
          <a:xfrm>
            <a:off x="3611880" y="189280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PDF/PPTX parsers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383280" y="22402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/>
          <p:nvPr/>
        </p:nvSpPr>
        <p:spPr>
          <a:xfrm>
            <a:off x="3611880" y="221284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LLaVA-7B vision pipeline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383280" y="25603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3"/>
          <p:cNvSpPr/>
          <p:nvPr/>
        </p:nvSpPr>
        <p:spPr>
          <a:xfrm>
            <a:off x="3611880" y="25328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Gradio UI (6 tabs)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383280" y="28803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/>
          <p:nvPr/>
        </p:nvSpPr>
        <p:spPr>
          <a:xfrm>
            <a:off x="3611880" y="28529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HuggingFace deployment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383280" y="32004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3611880" y="317296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RAGAS evaluation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6172200" y="1005840"/>
            <a:ext cx="2743200" cy="2743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13"/>
          <p:cNvSpPr/>
          <p:nvPr/>
        </p:nvSpPr>
        <p:spPr>
          <a:xfrm>
            <a:off x="6172200" y="1005840"/>
            <a:ext cx="274320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13"/>
          <p:cNvSpPr/>
          <p:nvPr/>
        </p:nvSpPr>
        <p:spPr>
          <a:xfrm>
            <a:off x="6309360" y="1600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Gap Detection &amp; Report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09360" y="19202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/>
          <p:nvPr/>
        </p:nvSpPr>
        <p:spPr>
          <a:xfrm>
            <a:off x="6537960" y="189280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Gap detection loop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09360" y="22402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3"/>
          <p:cNvSpPr/>
          <p:nvPr/>
        </p:nvSpPr>
        <p:spPr>
          <a:xfrm>
            <a:off x="6537960" y="221284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set construction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09360" y="25603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3"/>
          <p:cNvSpPr/>
          <p:nvPr/>
        </p:nvSpPr>
        <p:spPr>
          <a:xfrm>
            <a:off x="6537960" y="25328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Ablation studies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09360" y="28803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3"/>
          <p:cNvSpPr/>
          <p:nvPr/>
        </p:nvSpPr>
        <p:spPr>
          <a:xfrm>
            <a:off x="6537960" y="28529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Final report writing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13"/>
          <p:cNvSpPr/>
          <p:nvPr/>
        </p:nvSpPr>
        <p:spPr>
          <a:xfrm>
            <a:off x="640080" y="4023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B4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B429"/>
                </a:solidFill>
                <a:latin typeface="Calibri"/>
                <a:ea typeface="Calibri"/>
                <a:cs typeface="Calibri"/>
                <a:sym typeface="Calibri"/>
              </a:rPr>
              <a:t>Git Workflow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env_k / env_l / env_s</a:t>
            </a: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000" b="1" i="0" u="none" strike="noStrike" cap="none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rPr>
              <a:t>dev</a:t>
            </a: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000" b="1" i="0" u="none" strike="noStrike" cap="non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(branch protection on main + dev · first-letter naming prevents accidental cross-pushes)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40080" y="45720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Development: </a:t>
            </a: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Colab (A100)  ·  Notebooks as primary dev environment  ·  Markdown explanations before each code cell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3246115" y="111566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172190" y="111566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43" name="Google Shape;343;p1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48640" y="457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4"/>
          <p:cNvSpPr/>
          <p:nvPr/>
        </p:nvSpPr>
        <p:spPr>
          <a:xfrm>
            <a:off x="1097280" y="41148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 &amp; Future Work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Live Demo Flow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57200" y="1417320"/>
            <a:ext cx="8229600" cy="1051560"/>
          </a:xfrm>
          <a:prstGeom prst="rect">
            <a:avLst/>
          </a:prstGeom>
          <a:solidFill>
            <a:srgbClr val="0F2A3D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14"/>
          <p:cNvSpPr/>
          <p:nvPr/>
        </p:nvSpPr>
        <p:spPr>
          <a:xfrm>
            <a:off x="731520" y="14630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Upload a lecture PDF    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Generate a Study Guide with [Source N] citations    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Create Flashcards → Take a Practice Exam    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Get a wrong answer → See Gap Analysis re-explanation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57200" y="28346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B42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B429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7200" y="3246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4"/>
          <p:cNvSpPr/>
          <p:nvPr/>
        </p:nvSpPr>
        <p:spPr>
          <a:xfrm>
            <a:off x="731520" y="32186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LLaVA-7B runs on Colab only (not on HF free tier)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7200" y="35661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4"/>
          <p:cNvSpPr/>
          <p:nvPr/>
        </p:nvSpPr>
        <p:spPr>
          <a:xfrm>
            <a:off x="731520" y="3538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Faithfulness improves with corpus size — needs more slides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1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7200" y="38862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4"/>
          <p:cNvSpPr/>
          <p:nvPr/>
        </p:nvSpPr>
        <p:spPr>
          <a:xfrm>
            <a:off x="731520" y="3858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Cold-start latency (30-60s) on HF Inference API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7200" y="42062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4"/>
          <p:cNvSpPr/>
          <p:nvPr/>
        </p:nvSpPr>
        <p:spPr>
          <a:xfrm>
            <a:off x="731520" y="41788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English-only in v1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846320" y="28346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46320" y="3246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/>
          <p:nvPr/>
        </p:nvSpPr>
        <p:spPr>
          <a:xfrm>
            <a:off x="5120640" y="32186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Spaced repetition scheduling for flashcards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1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46320" y="35661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4"/>
          <p:cNvSpPr/>
          <p:nvPr/>
        </p:nvSpPr>
        <p:spPr>
          <a:xfrm>
            <a:off x="5120640" y="3538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Multi-language slide support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1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46320" y="38862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4"/>
          <p:cNvSpPr/>
          <p:nvPr/>
        </p:nvSpPr>
        <p:spPr>
          <a:xfrm>
            <a:off x="5120640" y="3858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Collaborative class-wide knowledge base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46320" y="42062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5120640" y="41788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Fine-tuned smaller model for faster inference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7" name="Google Shape;367;p1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7040</Words>
  <Application>WPS Presentation</Application>
  <PresentationFormat/>
  <Paragraphs>505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Helvetica Neue</vt:lpstr>
      <vt:lpstr>Consolas</vt:lpstr>
      <vt:lpstr>Microsoft YaHei</vt:lpstr>
      <vt:lpstr>汉仪旗黑</vt:lpstr>
      <vt:lpstr>Arial Unicode MS</vt:lpstr>
      <vt:lpstr>Thonburi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kshamaasuresh</cp:lastModifiedBy>
  <cp:revision>2</cp:revision>
  <dcterms:created xsi:type="dcterms:W3CDTF">2026-05-03T23:58:58Z</dcterms:created>
  <dcterms:modified xsi:type="dcterms:W3CDTF">2026-05-03T23:58:58Z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E4BF62FF61E5E2806EDCF76924982FF9_42</vt:lpwstr>
  </property>
  <property fmtid="{D5CDD505-2E9C-101B-9397-08002B2CF9AE}" pid="3" name="KSOProductBuildVer">
    <vt:lpwstr>1033-12.1.23153.23153</vt:lpwstr>
  </property>
</Properties>
</file>